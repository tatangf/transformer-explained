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weight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didn't</c:v>
                </c:pt>
                <c:pt idx="1">
                  <c:v>because</c:v>
                </c:pt>
                <c:pt idx="2">
                  <c:v>street</c:v>
                </c:pt>
                <c:pt idx="3">
                  <c:v>tired</c:v>
                </c:pt>
                <c:pt idx="4">
                  <c:v>animal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</c:v>
                </c:pt>
                <c:pt idx="1">
                  <c:v>0.06</c:v>
                </c:pt>
                <c:pt idx="2">
                  <c:v>0.15</c:v>
                </c:pt>
                <c:pt idx="3">
                  <c:v>0.2</c:v>
                </c:pt>
                <c:pt idx="4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5C-41B1-974E-52709AA609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75-4290-A62E-AB40CC9CBA5A}"/>
              </c:ext>
            </c:extLst>
          </c:dPt>
          <c:dPt>
            <c:idx val="1"/>
            <c:invertIfNegative val="0"/>
            <c:bubble3D val="0"/>
            <c:spPr>
              <a:solidFill>
                <a:srgbClr val="028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75-4290-A62E-AB40CC9CBA5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A75-4290-A62E-AB40CC9CBA5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A75-4290-A62E-AB40CC9CBA5A}"/>
              </c:ext>
            </c:extLst>
          </c:dPt>
          <c:dPt>
            <c:idx val="4"/>
            <c:invertIfNegative val="0"/>
            <c:bubble3D val="0"/>
            <c:spPr>
              <a:solidFill>
                <a:srgbClr val="028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75-4290-A62E-AB40CC9CBA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×1</c:v>
                </c:pt>
                <c:pt idx="1">
                  <c:v>×2</c:v>
                </c:pt>
                <c:pt idx="2">
                  <c:v>×4</c:v>
                </c:pt>
                <c:pt idx="3">
                  <c:v>×8</c:v>
                </c:pt>
                <c:pt idx="4">
                  <c:v>×10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64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75-4290-A62E-AB40CC9CBA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Arial"/>
                  </a:rPr>
                  <a:t>Sequence length (multiple of the original)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19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the talk: demystify the Transformer. We go from the single training objective (predict the next token) to the attention formula, then to the practical limits (context window and O(N²) cost), and finish with a short PyTorch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LLM never 'understands' in a separate step: it is trained to output a probability for every token in its vocabulary given the tokens so far. The example probabilities on the left are illustrative,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RNNs/LSTMs must process token t before token t+1, so training cannot be parallelized across time steps, and information from early tokens has to survive many steps (vanishing gradients). Self-attention connects every pair of tokens directly and computes all positions at once as matrix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steps, then the example: in 'The animal didn't cross the street because it was too tired', 'it' must be resolved to 'animal'. The percentages on the chart are illustrative, not taken from a real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token's vector is multiplied by three learned matrices (W_Q, W_K, W_V) to produce its query, key and value. The query of one token is matched against the keys of all tokens; the resulting weights mix the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Heads run in parallel on lower-dimensional projections, then their outputs are concatenated and projected back. The roles shown here are illustrative examples; specialization is emergent (learned), not hand-designed, and many heads in real models are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decoder-only LLM each token can only attend to itself and earlier tokens (causal mask), so the score matrix is lower-triangular, but its size still grows as N². Anything beyond N tokens is simply not part of the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compares every token with every other token, so cost grows with N². Doubling N gives 4x the score computations; 10x longer gives 100x. Optimized kernels such as FlashAttention avoid storing the full N×N matrix in memory, but the compute still scales quadratically.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2 and 3 together form one Transformer block; the block is stacked many times (L layers), each with residual connections and layer normalization. Only the last layer's output goes through the final softmax.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code line by line. Q, K, V have shape (..., N, d_k). The mask argument is what makes a decoder-only model causal: positions where mask == 0 get -inf before the softmax, so their weight becomes 0. Formula from 'Attention Is All You Need' (Vaswani et al., 2017).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parallelism explains why Transformers won; dynamic meaning is what attention provides; O(N²) is the price; and everything is still just next-token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Possible follow-ups: KV cache, FlashAttention, long-context techniques, why softmax is scaled by √d_k.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—  TECHNICAL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Transformer Really Work?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the attention mechanism, and a hands-on Python demo.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 •  Attention  •  Context window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76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0648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72984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65976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68312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0648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72984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65976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8312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70648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72984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65976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68312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0648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72984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65976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68312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70648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72984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65976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68312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0648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72984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mission: predict the next token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complex behavior of an LLM comes from one single objective.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 sat on the </a:t>
            </a:r>
            <a:r>
              <a:rPr lang="en-US" sz="2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54480" y="2633472"/>
            <a:ext cx="1828800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6432" y="2606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632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554480" y="3090672"/>
            <a:ext cx="894080" cy="256032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21712" y="30632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520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554480" y="3547872"/>
            <a:ext cx="609600" cy="256032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237232" y="35204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9776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54480" y="4005072"/>
            <a:ext cx="243840" cy="256032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71472" y="39776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297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probabilities over the entire vocabulary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54880" y="15544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178308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89280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57784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577840" y="19202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word, sub-word or character, converted to an ID and then to a numeric vector.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54880" y="2651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937760" y="288036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990088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57784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loop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5577840" y="30175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predicted token is fed back into the input to predict the next one.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75488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937760" y="397764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408736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57784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5577840" y="41148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token in its vocabulary; one is then picked or sampled.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replace sequential models?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limits of RNN and LSTM architectures.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APPROACH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33172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8408" y="2606040"/>
            <a:ext cx="237744" cy="23774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3584" y="2724912"/>
            <a:ext cx="34747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618488" y="2606040"/>
            <a:ext cx="237744" cy="23774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83664" y="2724912"/>
            <a:ext cx="34747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258568" y="2606040"/>
            <a:ext cx="237744" cy="23774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23744" y="2724912"/>
            <a:ext cx="34747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98648" y="2606040"/>
            <a:ext cx="237744" cy="23774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63824" y="2724912"/>
            <a:ext cx="34747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538728" y="2606040"/>
            <a:ext cx="237744" cy="237744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after the other.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parallelism: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can't be parallelized across time steps on GPUs.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 signal: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degrades over long sentences.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155448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07492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APPROACH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074920" y="233172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0" y="239572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03520" y="28620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239572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0" y="28620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239572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28620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23760" y="239572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23760" y="28620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63840" y="239572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286207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94960" y="2578608"/>
            <a:ext cx="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9496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94960" y="2578608"/>
            <a:ext cx="128016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94960" y="2578608"/>
            <a:ext cx="192024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94960" y="2578608"/>
            <a:ext cx="256032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>
            <a:off x="539496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0" y="2578608"/>
            <a:ext cx="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3504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35040" y="2578608"/>
            <a:ext cx="128016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035040" y="2578608"/>
            <a:ext cx="192024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H="1">
            <a:off x="5394960" y="2578608"/>
            <a:ext cx="128016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H="1">
            <a:off x="603504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75120" y="2578608"/>
            <a:ext cx="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67512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75120" y="2578608"/>
            <a:ext cx="128016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H="1">
            <a:off x="5394960" y="2578608"/>
            <a:ext cx="192024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H="1">
            <a:off x="6035040" y="2578608"/>
            <a:ext cx="128016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H="1">
            <a:off x="667512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315200" y="2578608"/>
            <a:ext cx="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31520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H="1">
            <a:off x="5394960" y="2578608"/>
            <a:ext cx="256032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H="1">
            <a:off x="6035040" y="2578608"/>
            <a:ext cx="192024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H="1">
            <a:off x="6675120" y="2578608"/>
            <a:ext cx="128016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H="1">
            <a:off x="7315200" y="2578608"/>
            <a:ext cx="64008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955280" y="2578608"/>
            <a:ext cx="0" cy="283464"/>
          </a:xfrm>
          <a:prstGeom prst="line">
            <a:avLst/>
          </a:prstGeom>
          <a:noFill/>
          <a:ln w="7620">
            <a:solidFill>
              <a:srgbClr val="0284C7">
                <a:alpha val="5500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07492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sequence is processed at once.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parallelism: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matrix operations that GPUs excel at.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paths: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tokens connect, however far apart.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explained without jargon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words adjust their meaning dynamically based on their neighbors.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92224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019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profile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broadcasts what it needs in order to sharpen its own meaning.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633472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2871216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8094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Relevance score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2999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is compared with every other token to compute influence weights.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712464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950208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0599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3803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Information blending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0782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new, enriched vector is built by mixing the most relevant tokens.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029200" y="15544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521208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animal didn't cross the street because it was too tired.”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212080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“it” attend to?</a:t>
            </a:r>
            <a:endParaRPr lang="en-US" sz="13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5120640" y="2468880"/>
          <a:ext cx="33832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21208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weights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Value: the search-engine analogy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at the heart of every layer.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SEARCH TERMS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token is actively looking for in the surrounding text.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73736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TITLES &amp;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tag each token offers to all the other tokens.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5544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73736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CONTENT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semantic content passed on when the Q–K match is strong.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005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Q · K     →     weights = softmax(score)     →     output = weights × V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3525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 and V are learned linear projections of each token's vector.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Multi-head: many angles of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can focus on a different kind of relationship in the text.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85806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 relations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94436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verbs to their direct subjects.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91840" y="155448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74720" y="173736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421" y="185806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472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4747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resolution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294436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“he” or “it” to the right earlier noun.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35040" y="155448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173736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621" y="185806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294436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overall theme across the whole document.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77240" y="38862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run in parallel and their outputs are concatenated and mixed by a learned projection. Roles emerge during training; some heads show clear patterns, while many are redundant.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an architectural reality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text limit: the fixed size of the interaction grid.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N score matrix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29868" y="2057400"/>
            <a:ext cx="329184" cy="329184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4772" y="20574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79676" y="20574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54580" y="20574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29484" y="20574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4388" y="20574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29868" y="2432304"/>
            <a:ext cx="329184" cy="329184"/>
          </a:xfrm>
          <a:prstGeom prst="rect">
            <a:avLst/>
          </a:prstGeom>
          <a:solidFill>
            <a:srgbClr val="0284C7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04772" y="2432304"/>
            <a:ext cx="329184" cy="329184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79676" y="2432304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4580" y="2432304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29484" y="2432304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04388" y="2432304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29868" y="2807208"/>
            <a:ext cx="329184" cy="329184"/>
          </a:xfrm>
          <a:prstGeom prst="rect">
            <a:avLst/>
          </a:prstGeom>
          <a:solidFill>
            <a:srgbClr val="0284C7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04772" y="2807208"/>
            <a:ext cx="329184" cy="329184"/>
          </a:xfrm>
          <a:prstGeom prst="rect">
            <a:avLst/>
          </a:prstGeom>
          <a:solidFill>
            <a:srgbClr val="0284C7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79676" y="2807208"/>
            <a:ext cx="329184" cy="329184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54580" y="280720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29484" y="280720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04388" y="280720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29868" y="3182112"/>
            <a:ext cx="329184" cy="329184"/>
          </a:xfrm>
          <a:prstGeom prst="rect">
            <a:avLst/>
          </a:prstGeom>
          <a:solidFill>
            <a:srgbClr val="0284C7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04772" y="3182112"/>
            <a:ext cx="329184" cy="329184"/>
          </a:xfrm>
          <a:prstGeom prst="rect">
            <a:avLst/>
          </a:prstGeom>
          <a:solidFill>
            <a:srgbClr val="0284C7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79676" y="3182112"/>
            <a:ext cx="329184" cy="329184"/>
          </a:xfrm>
          <a:prstGeom prst="rect">
            <a:avLst/>
          </a:prstGeom>
          <a:solidFill>
            <a:srgbClr val="0284C7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54580" y="3182112"/>
            <a:ext cx="329184" cy="329184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29484" y="3182112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104388" y="3182112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229868" y="3557016"/>
            <a:ext cx="329184" cy="329184"/>
          </a:xfrm>
          <a:prstGeom prst="rect">
            <a:avLst/>
          </a:prstGeom>
          <a:solidFill>
            <a:srgbClr val="0284C7">
              <a:alpha val="7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04772" y="3557016"/>
            <a:ext cx="329184" cy="329184"/>
          </a:xfrm>
          <a:prstGeom prst="rect">
            <a:avLst/>
          </a:prstGeom>
          <a:solidFill>
            <a:srgbClr val="0284C7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79676" y="3557016"/>
            <a:ext cx="329184" cy="329184"/>
          </a:xfrm>
          <a:prstGeom prst="rect">
            <a:avLst/>
          </a:prstGeom>
          <a:solidFill>
            <a:srgbClr val="0284C7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54580" y="3557016"/>
            <a:ext cx="329184" cy="329184"/>
          </a:xfrm>
          <a:prstGeom prst="rect">
            <a:avLst/>
          </a:prstGeom>
          <a:solidFill>
            <a:srgbClr val="0284C7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29484" y="3557016"/>
            <a:ext cx="329184" cy="329184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104388" y="3557016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229868" y="3931920"/>
            <a:ext cx="329184" cy="329184"/>
          </a:xfrm>
          <a:prstGeom prst="rect">
            <a:avLst/>
          </a:prstGeom>
          <a:solidFill>
            <a:srgbClr val="0284C7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04772" y="3931920"/>
            <a:ext cx="329184" cy="329184"/>
          </a:xfrm>
          <a:prstGeom prst="rect">
            <a:avLst/>
          </a:prstGeom>
          <a:solidFill>
            <a:srgbClr val="0284C7">
              <a:alpha val="7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979676" y="3931920"/>
            <a:ext cx="329184" cy="329184"/>
          </a:xfrm>
          <a:prstGeom prst="rect">
            <a:avLst/>
          </a:prstGeom>
          <a:solidFill>
            <a:srgbClr val="0284C7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54580" y="3931920"/>
            <a:ext cx="329184" cy="329184"/>
          </a:xfrm>
          <a:prstGeom prst="rect">
            <a:avLst/>
          </a:prstGeom>
          <a:solidFill>
            <a:srgbClr val="0284C7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729484" y="3931920"/>
            <a:ext cx="329184" cy="329184"/>
          </a:xfrm>
          <a:prstGeom prst="rect">
            <a:avLst/>
          </a:prstGeom>
          <a:solidFill>
            <a:srgbClr val="0284C7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104388" y="3931920"/>
            <a:ext cx="329184" cy="329184"/>
          </a:xfrm>
          <a:prstGeom prst="rect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7724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tokens a row can see. Grey: future tokens (masked).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389120" y="15544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892808"/>
            <a:ext cx="237744" cy="237744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521208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window of N tokens</a:t>
            </a:r>
            <a:endParaRPr lang="en-US" sz="1500" dirty="0"/>
          </a:p>
        </p:txBody>
      </p:sp>
      <p:sp>
        <p:nvSpPr>
          <p:cNvPr id="48" name="Text 44"/>
          <p:cNvSpPr txBox="1"/>
          <p:nvPr/>
        </p:nvSpPr>
        <p:spPr>
          <a:xfrm>
            <a:off x="5212080" y="19202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token beyond N is physically invisible to the network's layers.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4389120" y="26517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4572000" y="288036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990088"/>
            <a:ext cx="237744" cy="237744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in GPU memory</a:t>
            </a:r>
            <a:endParaRPr lang="en-US" sz="1500" dirty="0"/>
          </a:p>
        </p:txBody>
      </p:sp>
      <p:sp>
        <p:nvSpPr>
          <p:cNvPr id="53" name="Text 48"/>
          <p:cNvSpPr txBox="1"/>
          <p:nvPr/>
        </p:nvSpPr>
        <p:spPr>
          <a:xfrm>
            <a:off x="5212080" y="30175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of the active window are stored and reused while generating.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4389120" y="37490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4572000" y="397764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087368"/>
            <a:ext cx="237744" cy="237744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521208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5212080" y="41148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model the relative order of tokens inside the window.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bottleneck: quadratic complexity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making the context longer gets so expensive.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cost of attention: O(N²)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965960"/>
          <a:ext cx="42976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77240" y="4206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kernels (e.g. FlashAttention) avoid storing the full matrix, but compute still scales as N².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394960" y="1554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577840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2860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 needed when the sequence length is doubled.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39496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577840" y="33558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×100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3977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needed for the attention matrix when the sequence is 10× longer.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input to prediction: the full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key stages every token goes through.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805940" cy="21031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19072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839773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313432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542032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88036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tokens, then vectors, plus position information.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91156" y="2606040"/>
            <a:ext cx="201168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628900" y="1554480"/>
            <a:ext cx="1805940" cy="21031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11780" y="1719072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481" y="1839773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811780" y="2313432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811780" y="2542032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811780" y="288036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exchange information with each other.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471416" y="2606040"/>
            <a:ext cx="201168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709160" y="1554480"/>
            <a:ext cx="1805940" cy="21031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1719072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741" y="183977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92040" y="2313432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2542032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892040" y="288036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token's representation is refined on its own (MLP).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51676" y="2606040"/>
            <a:ext cx="201168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789420" y="1554480"/>
            <a:ext cx="1805940" cy="210312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72300" y="1719072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3001" y="1839773"/>
            <a:ext cx="261518" cy="26151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72300" y="2313432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6972300" y="2542032"/>
            <a:ext cx="1531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6972300" y="288036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over the vocabulary become output probabilities.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77240" y="38862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and 3 form one Transformer block,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 times, with residual connections and layer normalization around each step.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the formula in PyTorch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version of softmax(Q·Kᵀ / √d_k) · V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torch.nn.functional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 K, V, mask=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d_k = Q.shape[-</a:t>
            </a: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Q @ K.transpose(-</a:t>
            </a: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-</a:t>
            </a: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math.sqrt(d_k)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= scores.masked_fill(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mask == </a:t>
            </a: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float(</a:t>
            </a: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"-inf"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= F.softmax(scores, dim=-</a:t>
            </a: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 @ V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from “Attention Is All You Need” (Vaswani et al., 2017).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2331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@ Kᵀ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8379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for every pair of tokens.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2340864"/>
            <a:ext cx="2331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0" y="2386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√d_k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624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keeps softmax from saturating and shrinking gradients.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3127248"/>
            <a:ext cx="2331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0" y="31729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future tokens in autoregressive models.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3640" y="3913632"/>
            <a:ext cx="2331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0" y="3959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4197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scores into weights summing to 1.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essentials of this presentation in a nutshell.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90378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parallelism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21214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sequences are processed as matrix operations, which is why training on GPUs is so fast.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6344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92040" y="1783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9037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7784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meaning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5577840" y="212140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word's meaning continuously adapts to its entire context.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2004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5497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complexity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37673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limit: very long contexts require dedicated optimizations.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663440" y="32004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92040" y="342900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741" y="354970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778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prediction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5577840" y="37673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happens token by token, driven by the output probabilities.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about how Transformers work?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63640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5976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0648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2984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12801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65976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68312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0648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2984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6824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65976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68312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0648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0848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65976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8312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0648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72984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4871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4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65976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8312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0648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72984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288950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5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65976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68312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0648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3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72984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29184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1597</Words>
  <Application>Microsoft Office PowerPoint</Application>
  <PresentationFormat>Affichage à l'écran (16:9)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a Transformer Really Work?</dc:title>
  <dc:subject>PptxGenJS Presentation</dc:subject>
  <dc:creator>PptxGenJS</dc:creator>
  <cp:lastModifiedBy>ferol.tatangfomekon</cp:lastModifiedBy>
  <cp:revision>1</cp:revision>
  <dcterms:created xsi:type="dcterms:W3CDTF">2026-09-24T08:25:05Z</dcterms:created>
  <dcterms:modified xsi:type="dcterms:W3CDTF">2026-09-24T08:35:45Z</dcterms:modified>
</cp:coreProperties>
</file>